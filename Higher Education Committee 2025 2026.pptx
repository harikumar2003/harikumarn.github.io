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69" r:id="rId16"/>
    <p:sldId id="270" r:id="rId17"/>
    <p:sldId id="271" r:id="rId18"/>
    <p:sldId id="272" r:id="rId19"/>
    <p:sldId id="274" r:id="rId20"/>
    <p:sldId id="273" r:id="rId21"/>
    <p:sldId id="276" r:id="rId22"/>
    <p:sldId id="279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08D89-DC46-466F-9119-C01CAA33776B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E847D-C54B-4399-9EB9-5D764CA33A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96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2E847D-C54B-4399-9EB9-5D764CA33AF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68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E1A1-F2F0-264B-A3F8-9F64004A5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0473C-D797-6E64-2196-DC7467D22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0F03E-C4A6-74EB-2BA3-976270E68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DFB9-7242-AC98-3AD9-DC1C27B09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595FC-D94C-EEF9-4166-89F4FF6E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14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0CE1-9A3A-6CA4-A1A1-4D5CFEC6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0FE2-1466-A441-3657-22ED43A7C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11FE5-BF7C-AB35-ED40-B8E3669C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4CB26-AA50-A772-ABD3-66A6E20C0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3D291-911D-CE94-FA3E-88FDBC64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6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F70C-950C-2862-DA63-B8570946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76634-85E7-73B7-08F9-D4EC45761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3D9EF-2E97-B79D-C05D-A8D228C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0139B-56D4-629D-5515-9E54349AE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1E25F-B976-463E-D949-826003AC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3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09700-4348-F746-643F-1B322994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D2B7-C76C-CE51-C2BB-3C8EFDC2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E9ADD-42CB-80A2-E0F8-D56336370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0B606-A189-42C2-5F03-D766BFC2F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C6171-DCDB-E940-DA08-3277CCB4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E5677-62AB-7220-77D8-F5F3562B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3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89DC8-723E-5435-E900-AFD17DF4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77277-0DBD-39A5-86B3-F421FAC0F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80047-3DF9-9398-DFE2-4FCCA474F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BCD46-638E-8FA6-961B-CC0E4C2B3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FB91F7-9906-EAF0-18F3-208C7CF9C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E980C6-9F14-0102-EFD4-ACC80DDFF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A2E78-BF55-B370-186A-91CD270D0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21FEBC-42DD-7D28-324C-AD3A29E3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1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024AC-2061-3A4C-803D-BFDA25FA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3A347-F8C0-AA33-1665-78AD0C4C9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6111D-B5A9-C2B8-33A3-5429C037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915CC-53F8-083C-EF76-41BB08D1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616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03228-FF32-F47C-FF05-161ECC7F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FD773-9875-CD91-11E7-D96A111E9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2254D-5843-D387-31A5-A0ECA52E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5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7EB6-426F-CACE-84C6-D206761D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C44BA-31C7-0917-5B4E-3955691ED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EB413-B140-F377-90A1-E6B9659D5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9C526-8A85-E626-EF23-0F7FB4B2E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2413B-3429-C94A-AD03-9753D411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FFD6F-21A5-5D74-B244-9B36F8B4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6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A4BA7-CCCA-2719-4E15-9C8F3F0B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56D9B2-1B2D-AC66-7E58-C8F2BC6FA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B4765-2B3C-8F35-6937-2FA96300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41EFE-7FD6-6575-F5B9-22005BE7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7756F-5A1E-2B0C-060D-FB192E1C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6D643-DEEE-57FD-AD17-050FA69C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78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BB55-1594-468A-4BE5-A252328B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8FC6C-465B-D85F-37B5-FB33D2848A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4CF09-FDA8-0505-6DB7-6BD6A4DF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4604E-F4AF-5C72-DB91-92F86540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52C6B-EAAC-69B9-F9F8-C891F316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8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A3165-FB01-BA8F-673F-DA1389185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1DF80-ABA3-35FE-5418-A1CB619D9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32EF6-A0BF-4DCF-6BE6-7D0811A0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48493-94B4-41B2-EF51-87FF24AE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07500-AFE3-9606-E002-556EBDCA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2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7C2E2C-0DDD-9DAB-78D5-2FB18DCF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076A4-59B7-EB81-C412-96C93A141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5DC02-FA7C-220A-3E80-4380F6F2B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9121EE-BD07-42AB-B005-D01FF7401279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55E65-FB87-99E4-4A0E-ACE46EB37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02A83-E13A-881B-3A28-BD9689607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B8E17-3A55-4243-A79D-00AD8509D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6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FFAD-EE8A-01CC-72B0-36960B0AA2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Higher Education Committee</a:t>
            </a:r>
            <a:br>
              <a:rPr lang="en-US" b="1" dirty="0"/>
            </a:br>
            <a:r>
              <a:rPr lang="en-US" b="1" dirty="0"/>
              <a:t>2025-2026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8C9C2-F18A-A0C1-1D47-28B02EC896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Annual Work and Impact Presentation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85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DD63-7F55-6591-83F7-767F3820D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8CC3F-EEB7-ADC1-88E2-7F2C20AD2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EEA815-D5B0-D4FA-AEBC-C13750E71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74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4413A-D471-DCE8-3405-C529481419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077"/>
          <a:stretch>
            <a:fillRect/>
          </a:stretch>
        </p:blipFill>
        <p:spPr>
          <a:xfrm>
            <a:off x="1425677" y="138982"/>
            <a:ext cx="8831281" cy="2505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29A3D2-938F-FCF6-8F97-BEAA5CAF5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936" y="3137379"/>
            <a:ext cx="7580671" cy="27498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2040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BE81C-427B-4A0F-F470-824538A2E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968" y="562227"/>
            <a:ext cx="8874031" cy="5733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458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F9217B-9630-FF7D-A58B-AF4510D80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4" y="452022"/>
            <a:ext cx="6656437" cy="5953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9946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8169-C4CA-A802-E93C-105F9EA8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" y="109485"/>
            <a:ext cx="10515600" cy="1325563"/>
          </a:xfrm>
        </p:spPr>
        <p:txBody>
          <a:bodyPr/>
          <a:lstStyle/>
          <a:p>
            <a:r>
              <a:rPr lang="en-IN" b="1" u="sng" dirty="0">
                <a:latin typeface="Adobe Hebrew" panose="02040503050201020203" pitchFamily="18" charset="-79"/>
                <a:cs typeface="Adobe Hebrew" panose="02040503050201020203" pitchFamily="18" charset="-79"/>
              </a:rPr>
              <a:t>Activities Conducted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A754B-F488-E834-E136-C0BDDDF74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865239"/>
            <a:ext cx="12074013" cy="54765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4600" i="1" dirty="0"/>
              <a:t>1) Interactive Session on Career Pathways and Research Opportunities in Networking &amp; Security </a:t>
            </a:r>
            <a:endParaRPr lang="en-US" sz="4600" dirty="0"/>
          </a:p>
          <a:p>
            <a:pPr marL="0" indent="0">
              <a:buNone/>
            </a:pPr>
            <a:r>
              <a:rPr lang="en-IN" sz="2600" b="1" dirty="0"/>
              <a:t>Date &amp; Time: </a:t>
            </a:r>
            <a:r>
              <a:rPr lang="en-US" sz="2600" dirty="0"/>
              <a:t>21st August 2025, 5:00 PM – 7:30 PM </a:t>
            </a:r>
          </a:p>
          <a:p>
            <a:pPr marL="0" indent="0">
              <a:buNone/>
            </a:pPr>
            <a:r>
              <a:rPr lang="en-IN" sz="2600" b="1" dirty="0"/>
              <a:t>Speaker: </a:t>
            </a:r>
            <a:r>
              <a:rPr lang="en-US" sz="2600" b="1" dirty="0"/>
              <a:t>Dr. Ashutosh Dutta </a:t>
            </a:r>
            <a:r>
              <a:rPr lang="en-US" sz="2600" dirty="0"/>
              <a:t>– Senior Scientist and Professor, Johns Hopkins University (and recognized expert in 5G/6G, networking, and security domains) </a:t>
            </a:r>
          </a:p>
          <a:p>
            <a:pPr marL="0" indent="0">
              <a:buNone/>
            </a:pPr>
            <a:br>
              <a:rPr lang="en-IN" sz="2600" b="1" dirty="0"/>
            </a:br>
            <a:r>
              <a:rPr lang="en-IN" sz="2600" b="1" dirty="0"/>
              <a:t>Highlights: </a:t>
            </a:r>
            <a:endParaRPr lang="en-IN" sz="2600" dirty="0"/>
          </a:p>
          <a:p>
            <a:pPr marL="0" indent="0">
              <a:buNone/>
            </a:pPr>
            <a:r>
              <a:rPr lang="en-US" sz="2600" dirty="0"/>
              <a:t>● Shared insights on the evolution of </a:t>
            </a:r>
            <a:r>
              <a:rPr lang="en-US" sz="2600" b="1" dirty="0"/>
              <a:t>5G/6G technologies </a:t>
            </a:r>
            <a:r>
              <a:rPr lang="en-US" sz="2600" dirty="0"/>
              <a:t>and their research challenges. </a:t>
            </a:r>
          </a:p>
          <a:p>
            <a:pPr marL="0" indent="0">
              <a:buNone/>
            </a:pPr>
            <a:r>
              <a:rPr lang="en-US" sz="2600" dirty="0"/>
              <a:t>● Gave career guidance for students aspiring for </a:t>
            </a:r>
            <a:r>
              <a:rPr lang="en-US" sz="2600" b="1" dirty="0"/>
              <a:t>research and higher education abroad</a:t>
            </a:r>
            <a:r>
              <a:rPr lang="en-US" sz="2600" dirty="0"/>
              <a:t>. </a:t>
            </a:r>
          </a:p>
          <a:p>
            <a:pPr marL="0" indent="0">
              <a:buNone/>
            </a:pPr>
            <a:r>
              <a:rPr lang="en-US" sz="2600" dirty="0"/>
              <a:t>● Addressed questions on </a:t>
            </a:r>
            <a:r>
              <a:rPr lang="en-US" sz="2600" b="1" dirty="0"/>
              <a:t>industry-academia collaborations, internships, and skill building</a:t>
            </a:r>
            <a:r>
              <a:rPr lang="en-US" sz="2600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65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8ED8D0-5BDE-4BFF-8ED7-155C085A06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94" y="345895"/>
            <a:ext cx="8368174" cy="6166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446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EFEB7-81BA-5FE9-4F83-756559D9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2) Internship Series 2025:From Lecture Halls to Global Labs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14C8A-2167-8039-E3C4-09414CFD1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Date and Time: </a:t>
            </a:r>
            <a:r>
              <a:rPr lang="en-US" dirty="0"/>
              <a:t>3rd September 2025 (Wednesday), 6:00 PM in the PPT Room, TIIR Building.</a:t>
            </a:r>
          </a:p>
          <a:p>
            <a:pPr marL="0" indent="0">
              <a:buNone/>
            </a:pPr>
            <a:r>
              <a:rPr lang="en-US" b="1" dirty="0"/>
              <a:t>Speakers:</a:t>
            </a:r>
            <a:br>
              <a:rPr lang="en-US" b="1" dirty="0"/>
            </a:br>
            <a:br>
              <a:rPr lang="en-US" dirty="0"/>
            </a:br>
            <a:r>
              <a:rPr lang="en-US" b="1" dirty="0"/>
              <a:t>Param Joshi</a:t>
            </a:r>
            <a:r>
              <a:rPr lang="en-US" dirty="0"/>
              <a:t>, Int. MSc Physics, Summer Research Student at </a:t>
            </a:r>
            <a:r>
              <a:rPr lang="en-US" b="1" dirty="0"/>
              <a:t>ASTRON, Netherlands</a:t>
            </a:r>
            <a:r>
              <a:rPr lang="en-US" dirty="0"/>
              <a:t>, with prior experiences at Oxford University, PRL, IIT Bombay, and the SETI Institute (USA).</a:t>
            </a:r>
            <a:br>
              <a:rPr lang="en-US" dirty="0"/>
            </a:br>
            <a:endParaRPr lang="en-US" b="1" dirty="0"/>
          </a:p>
          <a:p>
            <a:pPr marL="0" indent="0" fontAlgn="base">
              <a:buNone/>
            </a:pPr>
            <a:r>
              <a:rPr lang="en-US" b="1" dirty="0"/>
              <a:t>Abhipsa Dash</a:t>
            </a:r>
            <a:r>
              <a:rPr lang="en-US" dirty="0"/>
              <a:t>, </a:t>
            </a:r>
            <a:r>
              <a:rPr lang="en-US" dirty="0" err="1"/>
              <a:t>B.Tech</a:t>
            </a:r>
            <a:r>
              <a:rPr lang="en-US" dirty="0"/>
              <a:t> Biomedical Engineering, Research Intern at </a:t>
            </a:r>
            <a:r>
              <a:rPr lang="en-US" b="1" dirty="0"/>
              <a:t>Iowa State University, USA (REU-TRACE Program)</a:t>
            </a:r>
            <a:r>
              <a:rPr lang="en-US" dirty="0"/>
              <a:t>, and AIR 36 in GATE 2025.</a:t>
            </a:r>
            <a:br>
              <a:rPr lang="en-US" dirty="0"/>
            </a:br>
            <a:endParaRPr lang="en-US" b="1" dirty="0"/>
          </a:p>
          <a:p>
            <a:pPr marL="0" indent="0">
              <a:buNone/>
            </a:pPr>
            <a:r>
              <a:rPr lang="en-US" b="1" dirty="0"/>
              <a:t>Sachin Mishra</a:t>
            </a:r>
            <a:r>
              <a:rPr lang="en-US" dirty="0"/>
              <a:t>, </a:t>
            </a:r>
            <a:r>
              <a:rPr lang="en-US" dirty="0" err="1"/>
              <a:t>B.Tech</a:t>
            </a:r>
            <a:r>
              <a:rPr lang="en-US" dirty="0"/>
              <a:t> Biomedical Engineering, Research Intern at </a:t>
            </a:r>
            <a:r>
              <a:rPr lang="en-US" b="1" dirty="0"/>
              <a:t>Ming Chi University of Technology, Taiwan</a:t>
            </a:r>
            <a:br>
              <a:rPr lang="en-US" b="1" dirty="0"/>
            </a:br>
            <a:endParaRPr lang="en-US" b="1" dirty="0"/>
          </a:p>
          <a:p>
            <a:pPr marL="0" indent="0">
              <a:buNone/>
            </a:pPr>
            <a:r>
              <a:rPr lang="en-US" dirty="0"/>
              <a:t>The session aimed to guide students aspiring for </a:t>
            </a:r>
            <a:r>
              <a:rPr lang="en-US" b="1" dirty="0"/>
              <a:t>foreign research internships</a:t>
            </a:r>
            <a:r>
              <a:rPr lang="en-US" dirty="0"/>
              <a:t> by providing insights into preparation strategies, prerequisites, resume building, SOP and LOR writing, cold mailing techniques, and the selection process.</a:t>
            </a:r>
            <a:endParaRPr lang="en-US" b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7764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3A010E58-F38F-8DB0-EB51-3D537414F7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67" y="1450783"/>
            <a:ext cx="5708564" cy="4281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A944F5F-8BD3-9BFA-D876-0DA353972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9"/>
          <a:stretch>
            <a:fillRect/>
          </a:stretch>
        </p:blipFill>
        <p:spPr bwMode="auto">
          <a:xfrm>
            <a:off x="6508955" y="1450783"/>
            <a:ext cx="5457278" cy="4281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7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A201A-7146-9B52-8711-270922A60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365125"/>
            <a:ext cx="10763865" cy="1325563"/>
          </a:xfrm>
        </p:spPr>
        <p:txBody>
          <a:bodyPr/>
          <a:lstStyle/>
          <a:p>
            <a:r>
              <a:rPr lang="en-US" b="1" dirty="0"/>
              <a:t>3) Seminar on Overseas Educational Options &amp; Job Opportunities Abroad by </a:t>
            </a:r>
            <a:r>
              <a:rPr lang="en-US" b="1" u="sng" dirty="0"/>
              <a:t>IDP Bhubaneswar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C9747-48FF-5E9E-CA3A-FDC06CD4D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201243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Date: 14th October</a:t>
            </a:r>
            <a:endParaRPr lang="en-US" b="0" dirty="0">
              <a:effectLst/>
            </a:endParaRPr>
          </a:p>
          <a:p>
            <a:r>
              <a:rPr lang="en-US" b="1" dirty="0"/>
              <a:t>Time: 10am</a:t>
            </a:r>
            <a:endParaRPr lang="en-US" b="0" dirty="0">
              <a:effectLst/>
            </a:endParaRPr>
          </a:p>
          <a:p>
            <a:r>
              <a:rPr lang="en-US" b="1" dirty="0"/>
              <a:t>Venue: TIIR Auditorium</a:t>
            </a:r>
            <a:endParaRPr lang="en-US" b="0" dirty="0">
              <a:effectLst/>
            </a:endParaRP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Key Focus Areas: </a:t>
            </a:r>
            <a:endParaRPr lang="en-US" dirty="0"/>
          </a:p>
          <a:p>
            <a:pPr fontAlgn="base"/>
            <a:r>
              <a:rPr lang="en-US" dirty="0"/>
              <a:t>Overview of study abroad programs and top-ranked universities</a:t>
            </a:r>
            <a:endParaRPr lang="en-US" b="1" dirty="0"/>
          </a:p>
          <a:p>
            <a:pPr fontAlgn="base"/>
            <a:r>
              <a:rPr lang="en-US" dirty="0"/>
              <a:t>Information on funding opportunities and scholarships</a:t>
            </a:r>
            <a:endParaRPr lang="en-US" b="1" dirty="0"/>
          </a:p>
          <a:p>
            <a:pPr fontAlgn="base"/>
            <a:r>
              <a:rPr lang="en-US" dirty="0"/>
              <a:t>Guidance on application processes</a:t>
            </a:r>
            <a:endParaRPr lang="en-US" b="1" dirty="0"/>
          </a:p>
          <a:p>
            <a:pPr fontAlgn="base"/>
            <a:r>
              <a:rPr lang="en-US" dirty="0"/>
              <a:t>Insights into career and research opportunities post-graduation</a:t>
            </a:r>
            <a:endParaRPr lang="en-US" b="1" dirty="0"/>
          </a:p>
          <a:p>
            <a:pPr fontAlgn="base"/>
            <a:r>
              <a:rPr lang="en-US" dirty="0"/>
              <a:t>IELTS preparation tips and resources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248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F290425-4A29-7019-4E57-223D08A7C5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9" y="589936"/>
            <a:ext cx="4136922" cy="5515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7FB1A744-5DD4-1002-316F-B2B10D0BB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66" y="943897"/>
            <a:ext cx="6505527" cy="4870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73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DAFEC-7151-5393-D1D9-3E25B521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265471"/>
            <a:ext cx="10813026" cy="1425217"/>
          </a:xfrm>
        </p:spPr>
        <p:txBody>
          <a:bodyPr/>
          <a:lstStyle/>
          <a:p>
            <a:r>
              <a:rPr lang="en-IN" b="1" dirty="0"/>
              <a:t>4) CAT Unlocked By ABHISHEK AGARWAL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04993-9BD4-B8B0-F142-9BBEF7ACC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307690"/>
            <a:ext cx="10813026" cy="48692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Speaker : Abhisek Agarwal</a:t>
            </a:r>
            <a:br>
              <a:rPr lang="en-IN" dirty="0"/>
            </a:br>
            <a:r>
              <a:rPr lang="en-IN" dirty="0"/>
              <a:t>     	      NIT Rourkela ‘22</a:t>
            </a:r>
            <a:br>
              <a:rPr lang="en-IN" dirty="0"/>
            </a:br>
            <a:r>
              <a:rPr lang="en-IN" dirty="0"/>
              <a:t>	      IIM Calcutta PGP ‘26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Date &amp; Time:</a:t>
            </a:r>
            <a:r>
              <a:rPr lang="en-IN" dirty="0"/>
              <a:t> 25 Oct, Sat | 4:00 PM</a:t>
            </a:r>
            <a:br>
              <a:rPr lang="en-IN" dirty="0"/>
            </a:br>
            <a:r>
              <a:rPr lang="en-IN" b="1" dirty="0"/>
              <a:t>Platform:</a:t>
            </a:r>
            <a:r>
              <a:rPr lang="en-IN" dirty="0"/>
              <a:t> Google Meet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Topics Discussed</a:t>
            </a:r>
            <a:endParaRPr lang="en-IN" b="1" dirty="0">
              <a:effectLst/>
            </a:endParaRPr>
          </a:p>
          <a:p>
            <a:pPr fontAlgn="base"/>
            <a:r>
              <a:rPr lang="en-IN" dirty="0"/>
              <a:t>Importance of CAT (Gateway to IIMs, wide acceptance, career impact)</a:t>
            </a:r>
          </a:p>
          <a:p>
            <a:pPr fontAlgn="base"/>
            <a:r>
              <a:rPr lang="en-IN" dirty="0"/>
              <a:t>Exam Overview (Mode, duration, sections, marking scheme)</a:t>
            </a:r>
          </a:p>
          <a:p>
            <a:pPr fontAlgn="base"/>
            <a:r>
              <a:rPr lang="en-IN" dirty="0"/>
              <a:t>Section-wise syllabus (VARC, DILR, QA key topics)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346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F0ED5D7-2AA9-41D9-375D-2A92AD829D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1" b="5495"/>
          <a:stretch>
            <a:fillRect/>
          </a:stretch>
        </p:blipFill>
        <p:spPr bwMode="auto">
          <a:xfrm>
            <a:off x="838200" y="648930"/>
            <a:ext cx="10515600" cy="5354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0980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D9020-FB0D-AF4F-9F77-091AC617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5) FROM NIT TO GLOBAL CAREER – THE EXACT STUDY ABROAD ROADMAP : LEAPSCHOLAR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A4BD0-4FE8-4F5E-4AE1-1E65605A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90688"/>
            <a:ext cx="10665542" cy="48992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Date: </a:t>
            </a:r>
            <a:r>
              <a:rPr lang="en-US" dirty="0"/>
              <a:t>12th March 2026</a:t>
            </a:r>
          </a:p>
          <a:p>
            <a:pPr marL="0" indent="0">
              <a:buNone/>
            </a:pPr>
            <a:r>
              <a:rPr lang="en-US" b="1" dirty="0"/>
              <a:t>Time: </a:t>
            </a:r>
            <a:r>
              <a:rPr lang="en-US" dirty="0"/>
              <a:t>6:00 PM – 7:00 PM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Session was for the students to:</a:t>
            </a:r>
          </a:p>
          <a:p>
            <a:r>
              <a:rPr lang="en-US" dirty="0"/>
              <a:t>Find out if studying abroad is financially worth it.</a:t>
            </a:r>
          </a:p>
          <a:p>
            <a:r>
              <a:rPr lang="en-US" dirty="0"/>
              <a:t>Get a personalized country &amp; course shortlist based on their profile</a:t>
            </a:r>
          </a:p>
          <a:p>
            <a:r>
              <a:rPr lang="en-US" dirty="0"/>
              <a:t>Discover realistic scholarships they actually qualify for</a:t>
            </a:r>
          </a:p>
          <a:p>
            <a:r>
              <a:rPr lang="en-US" dirty="0"/>
              <a:t>Learn how to avoid common visa rejection mistakes</a:t>
            </a:r>
          </a:p>
          <a:p>
            <a:r>
              <a:rPr lang="en-US" dirty="0"/>
              <a:t>Understand job opportunities, visa &amp; PR pathways after graduation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77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A7EE-BB2A-0E5B-7997-0BC1126CA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26" y="471948"/>
            <a:ext cx="10370574" cy="15530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Adobe Hebrew" panose="02040503050201020203" pitchFamily="18" charset="-79"/>
                <a:cs typeface="Adobe Hebrew" panose="02040503050201020203" pitchFamily="18" charset="-79"/>
              </a:rPr>
              <a:t>Guidance Documents/ Resources shared with the Students through our </a:t>
            </a:r>
            <a:r>
              <a:rPr lang="en-US" b="1" i="1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Whatsapp</a:t>
            </a:r>
            <a:r>
              <a:rPr lang="en-US" b="1" i="1" dirty="0">
                <a:latin typeface="Adobe Hebrew" panose="02040503050201020203" pitchFamily="18" charset="-79"/>
                <a:cs typeface="Adobe Hebrew" panose="02040503050201020203" pitchFamily="18" charset="-79"/>
              </a:rPr>
              <a:t> Community consisting of 3000+ students</a:t>
            </a:r>
            <a:endParaRPr lang="en-IN" b="1" i="1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0298C-8481-EDDC-6829-A25AB8701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1" y="2818682"/>
            <a:ext cx="11107994" cy="4351338"/>
          </a:xfrm>
        </p:spPr>
        <p:txBody>
          <a:bodyPr/>
          <a:lstStyle/>
          <a:p>
            <a:r>
              <a:rPr lang="en-IN" dirty="0"/>
              <a:t>1.Newsletters </a:t>
            </a:r>
          </a:p>
          <a:p>
            <a:r>
              <a:rPr lang="en-US" dirty="0"/>
              <a:t>2.Document: Building a Strong Research CV </a:t>
            </a:r>
          </a:p>
          <a:p>
            <a:r>
              <a:rPr lang="en-US" dirty="0"/>
              <a:t>3.Google sheets containing details about 1584 IIT Professors.</a:t>
            </a:r>
          </a:p>
          <a:p>
            <a:r>
              <a:rPr lang="en-US" dirty="0"/>
              <a:t>4.Connecting with Seniors Abroad and Accessing Mentorship for PhD Opportunities.</a:t>
            </a:r>
          </a:p>
          <a:p>
            <a:r>
              <a:rPr lang="en-US" dirty="0"/>
              <a:t>5.Updating students about various Higher Education and Research Internship </a:t>
            </a:r>
            <a:r>
              <a:rPr lang="en-US" dirty="0" err="1"/>
              <a:t>programmes</a:t>
            </a:r>
            <a:r>
              <a:rPr lang="en-US" dirty="0"/>
              <a:t> through the WhatsApp community in a clear and concise manner for their convenience.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42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75FD7-7812-EF7B-6775-16814F8AD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Newsletters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A1E2F-01A5-AF83-96DA-F6042A8F9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Two newsletters consisting of:</a:t>
            </a:r>
            <a:br>
              <a:rPr lang="en-US" b="1" dirty="0"/>
            </a:br>
            <a:endParaRPr lang="en-US" b="0" dirty="0">
              <a:effectLst/>
            </a:endParaRPr>
          </a:p>
          <a:p>
            <a:pPr fontAlgn="base"/>
            <a:r>
              <a:rPr lang="en-US" dirty="0"/>
              <a:t>An overview of four major standardized tests—GRE, GMAT, TOEFL, and IELTS—covering their purpose, exam format, approximate costs, probable test dates, and leading global universities that accept these scores.</a:t>
            </a:r>
            <a:br>
              <a:rPr lang="en-US" dirty="0"/>
            </a:br>
            <a:endParaRPr lang="en-US" b="1" dirty="0"/>
          </a:p>
          <a:p>
            <a:r>
              <a:rPr lang="en-US" dirty="0"/>
              <a:t>An overview of postgraduate opportunities in India and abroad, including details on degrees such as </a:t>
            </a:r>
            <a:r>
              <a:rPr lang="en-US" dirty="0" err="1"/>
              <a:t>M.Tech</a:t>
            </a:r>
            <a:r>
              <a:rPr lang="en-US" dirty="0"/>
              <a:t>, MS, MBA, MIM, PhD, and more. It also covers the required exams, career prospects, and leading universities for each path</a:t>
            </a:r>
            <a:r>
              <a:rPr lang="en-US" b="1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011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019AF-EB36-1CE7-A383-34E3A7C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355293"/>
            <a:ext cx="10515600" cy="1325563"/>
          </a:xfrm>
        </p:spPr>
        <p:txBody>
          <a:bodyPr/>
          <a:lstStyle/>
          <a:p>
            <a:r>
              <a:rPr lang="en-US" b="1" dirty="0"/>
              <a:t>Building a Strong Research CV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5EE83-D524-30E5-6545-8B0E3FE35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" y="1533832"/>
            <a:ext cx="10655710" cy="46431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The document consisted about all the below mentioned points in details.</a:t>
            </a:r>
            <a:br>
              <a:rPr lang="en-US" b="1" dirty="0"/>
            </a:br>
            <a:br>
              <a:rPr lang="en-US" b="1" dirty="0"/>
            </a:br>
            <a:endParaRPr lang="en-US" b="0" dirty="0">
              <a:effectLst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Importance of a well-structured and professional academic CV</a:t>
            </a:r>
            <a:br>
              <a:rPr lang="en-US" dirty="0">
                <a:cs typeface="Adobe Hebrew" panose="02040503050201020203" pitchFamily="18" charset="-79"/>
              </a:rPr>
            </a:br>
            <a:endParaRPr lang="en-US" dirty="0">
              <a:cs typeface="Adobe Hebrew" panose="02040503050201020203" pitchFamily="18" charset="-79"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How to effectively present education and research experience</a:t>
            </a:r>
            <a:br>
              <a:rPr lang="en-US" dirty="0">
                <a:cs typeface="Adobe Hebrew" panose="02040503050201020203" pitchFamily="18" charset="-79"/>
              </a:rPr>
            </a:br>
            <a:endParaRPr lang="en-US" dirty="0">
              <a:cs typeface="Adobe Hebrew" panose="02040503050201020203" pitchFamily="18" charset="-79"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Emphasis on clarity, brevity, and impact</a:t>
            </a:r>
            <a:br>
              <a:rPr lang="en-US" dirty="0">
                <a:cs typeface="Adobe Hebrew" panose="02040503050201020203" pitchFamily="18" charset="-79"/>
              </a:rPr>
            </a:br>
            <a:endParaRPr lang="en-US" dirty="0">
              <a:cs typeface="Adobe Hebrew" panose="02040503050201020203" pitchFamily="18" charset="-79"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Showcasing technical skills, tools, and research contributions</a:t>
            </a:r>
            <a:br>
              <a:rPr lang="en-US" dirty="0">
                <a:cs typeface="Adobe Hebrew" panose="02040503050201020203" pitchFamily="18" charset="-79"/>
              </a:rPr>
            </a:br>
            <a:endParaRPr lang="en-US" dirty="0">
              <a:cs typeface="Adobe Hebrew" panose="02040503050201020203" pitchFamily="18" charset="-79"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Including publications, achievements, and academic activities</a:t>
            </a:r>
            <a:br>
              <a:rPr lang="en-US" dirty="0">
                <a:cs typeface="Adobe Hebrew" panose="02040503050201020203" pitchFamily="18" charset="-79"/>
              </a:rPr>
            </a:br>
            <a:endParaRPr lang="en-US" dirty="0">
              <a:cs typeface="Adobe Hebrew" panose="02040503050201020203" pitchFamily="18" charset="-79"/>
            </a:endParaRPr>
          </a:p>
          <a:p>
            <a:pPr fontAlgn="base"/>
            <a:r>
              <a:rPr lang="en-US" dirty="0">
                <a:cs typeface="Adobe Hebrew" panose="02040503050201020203" pitchFamily="18" charset="-79"/>
              </a:rPr>
              <a:t>Keeping the CV concise, keyword-optimized, and error-free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2003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4A473-45A7-8220-7F33-964C4F45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7912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Google sheets containing details about 1584 IIT Professors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04203-F09B-4356-FD40-7C2050EFC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8180"/>
            <a:ext cx="10970342" cy="4351338"/>
          </a:xfrm>
        </p:spPr>
        <p:txBody>
          <a:bodyPr/>
          <a:lstStyle/>
          <a:p>
            <a:r>
              <a:rPr lang="en-US" dirty="0"/>
              <a:t>This document consisted of a compiled list of faculty members from the various departments along with their respective research areas and contact details. It will serve as a reference for students to identify professors based on specific research </a:t>
            </a:r>
            <a:r>
              <a:rPr lang="en-US" dirty="0" err="1"/>
              <a:t>interests,facilitating</a:t>
            </a:r>
            <a:r>
              <a:rPr lang="en-US" dirty="0"/>
              <a:t> academic outreach and collaboration opportunities.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521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434B3-06AD-5735-F71A-89E51B3D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Connecting with Seniors Abroad and Accessing Mentorship for PhD Opportunities.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E6601-D74C-2236-8FF8-F0ECA5F58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267573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document consisted of :</a:t>
            </a:r>
          </a:p>
          <a:p>
            <a:r>
              <a:rPr lang="en-IN" dirty="0"/>
              <a:t> Answers to some general questions raised by the students.</a:t>
            </a:r>
          </a:p>
          <a:p>
            <a:r>
              <a:rPr lang="en-IN" dirty="0"/>
              <a:t>List of members of HEC with contact details</a:t>
            </a:r>
          </a:p>
          <a:p>
            <a:r>
              <a:rPr lang="en-IN" dirty="0"/>
              <a:t>Contact information of a few trusted partner agencies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061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3F31-5778-4479-4EF8-28C5AA96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52355" cy="21421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Updating students about various Higher Education and Research Internship </a:t>
            </a:r>
            <a:r>
              <a:rPr lang="en-US" b="1" dirty="0" err="1"/>
              <a:t>programmes</a:t>
            </a:r>
            <a:r>
              <a:rPr lang="en-US" b="1" dirty="0"/>
              <a:t> through the WhatsApp community in a clear and concise manner for their convenience.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C14FF-8CB6-38C4-43FB-B9BC623D7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69109"/>
            <a:ext cx="10515600" cy="2607853"/>
          </a:xfrm>
        </p:spPr>
        <p:txBody>
          <a:bodyPr/>
          <a:lstStyle/>
          <a:p>
            <a:r>
              <a:rPr lang="en-IN" dirty="0"/>
              <a:t>Shared around 90+ Higher Education and Internship opportunities among the students both for the winter break 2025 and summer 2026.</a:t>
            </a:r>
          </a:p>
        </p:txBody>
      </p:sp>
    </p:spTree>
    <p:extLst>
      <p:ext uri="{BB962C8B-B14F-4D97-AF65-F5344CB8AC3E}">
        <p14:creationId xmlns:p14="http://schemas.microsoft.com/office/powerpoint/2010/main" val="4187613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12291-A52E-A115-D679-8D31B0E6A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257" y="299764"/>
            <a:ext cx="10515600" cy="1325563"/>
          </a:xfrm>
        </p:spPr>
        <p:txBody>
          <a:bodyPr/>
          <a:lstStyle/>
          <a:p>
            <a:r>
              <a:rPr lang="en-IN" dirty="0"/>
              <a:t>FEEDBACK RECEIVED FROM THE STUDENTS THIS YEAR.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F1C29D-D0AB-D5E2-4939-05A281852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082" t="1856" b="8209"/>
          <a:stretch>
            <a:fillRect/>
          </a:stretch>
        </p:blipFill>
        <p:spPr>
          <a:xfrm>
            <a:off x="1407108" y="1842414"/>
            <a:ext cx="8722794" cy="10281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EBDF6-D7D7-E05E-7CFD-3C4ACFCA0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590" y="6054664"/>
            <a:ext cx="8500935" cy="4382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93E0D2-3122-95FE-026F-A8E7F68DC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635" y="4680221"/>
            <a:ext cx="2674842" cy="5903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9D485D-49FF-4E70-D58E-2DFFAF6D8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540" y="4365380"/>
            <a:ext cx="3816991" cy="133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6FCD45-AEE0-8B9F-2B57-D1E47FACEE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2846" b="-1016"/>
          <a:stretch>
            <a:fillRect/>
          </a:stretch>
        </p:blipFill>
        <p:spPr>
          <a:xfrm>
            <a:off x="1407107" y="3362143"/>
            <a:ext cx="8738419" cy="438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2A115D-AF92-7118-9C30-7B8A096F775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9655"/>
          <a:stretch>
            <a:fillRect/>
          </a:stretch>
        </p:blipFill>
        <p:spPr>
          <a:xfrm>
            <a:off x="516192" y="4257529"/>
            <a:ext cx="3507724" cy="1549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3697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15371-94EC-0C00-C02A-52D5D7E8F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93" y="237306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How would you rate the working of HEC this academic year ?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145 responses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F02776-5053-6F91-BFEB-980DF985E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289"/>
          <a:stretch>
            <a:fillRect/>
          </a:stretch>
        </p:blipFill>
        <p:spPr>
          <a:xfrm>
            <a:off x="668593" y="1690688"/>
            <a:ext cx="10186220" cy="515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003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6B42-4F81-2F0B-2255-D67471F6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Suggestions received from the students that can be considered next year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885D9-8C20-C548-4C95-1B007A57A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Emphasis on how to prepare applications for foreign research internships at the very start of the semester.</a:t>
            </a:r>
          </a:p>
          <a:p>
            <a:r>
              <a:rPr lang="en-US" dirty="0"/>
              <a:t>Would prefer to see more international internship opportunities such as SURF programs, SURI from ASU and RISC from UMD for example. Possibly a separate group specifically for it wherein all these opportunities are consolidated in one place.</a:t>
            </a:r>
          </a:p>
          <a:p>
            <a:r>
              <a:rPr lang="en-US" dirty="0"/>
              <a:t>I just felt this time, update for a lot of internship details was at the last hour,, rest it was cool 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6200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EAED-D24A-0D40-3CD1-D854FF94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16" y="2508557"/>
            <a:ext cx="10515600" cy="1325563"/>
          </a:xfrm>
        </p:spPr>
        <p:txBody>
          <a:bodyPr/>
          <a:lstStyle/>
          <a:p>
            <a:r>
              <a:rPr lang="en-IN" b="1" dirty="0">
                <a:latin typeface="Adobe Hebrew" panose="02040503050201020203" pitchFamily="18" charset="-79"/>
                <a:cs typeface="Adobe Hebrew" panose="02040503050201020203" pitchFamily="18" charset="-79"/>
              </a:rPr>
              <a:t>				Thankyou </a:t>
            </a:r>
          </a:p>
        </p:txBody>
      </p:sp>
    </p:spTree>
    <p:extLst>
      <p:ext uri="{BB962C8B-B14F-4D97-AF65-F5344CB8AC3E}">
        <p14:creationId xmlns:p14="http://schemas.microsoft.com/office/powerpoint/2010/main" val="215229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1017</Words>
  <Application>Microsoft Office PowerPoint</Application>
  <PresentationFormat>Widescreen</PresentationFormat>
  <Paragraphs>83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Adobe Hebrew</vt:lpstr>
      <vt:lpstr>Arial</vt:lpstr>
      <vt:lpstr>Calibri</vt:lpstr>
      <vt:lpstr>Calibri Light</vt:lpstr>
      <vt:lpstr>Office Theme</vt:lpstr>
      <vt:lpstr>Higher Education Committee 2025-2026</vt:lpstr>
      <vt:lpstr>PowerPoint Presentation</vt:lpstr>
      <vt:lpstr>PowerPoint Presentation</vt:lpstr>
      <vt:lpstr>PowerPoint Presentation</vt:lpstr>
      <vt:lpstr>PowerPoint Presentation</vt:lpstr>
      <vt:lpstr>Activities Conducted</vt:lpstr>
      <vt:lpstr>PowerPoint Presentation</vt:lpstr>
      <vt:lpstr>2) Internship Series 2025:From Lecture Halls to Global Labs </vt:lpstr>
      <vt:lpstr>PowerPoint Presentation</vt:lpstr>
      <vt:lpstr>3) Seminar on Overseas Educational Options &amp; Job Opportunities Abroad by IDP Bhubaneswar</vt:lpstr>
      <vt:lpstr>PowerPoint Presentation</vt:lpstr>
      <vt:lpstr>4) CAT Unlocked By ABHISHEK AGARWAL </vt:lpstr>
      <vt:lpstr>PowerPoint Presentation</vt:lpstr>
      <vt:lpstr>5) FROM NIT TO GLOBAL CAREER – THE EXACT STUDY ABROAD ROADMAP : LEAPSCHOLAR</vt:lpstr>
      <vt:lpstr>Guidance Documents/ Resources shared with the Students through our Whatsapp Community consisting of 3000+ students</vt:lpstr>
      <vt:lpstr>Newsletters </vt:lpstr>
      <vt:lpstr>Building a Strong Research CV</vt:lpstr>
      <vt:lpstr>Google sheets containing details about 1584 IIT Professors</vt:lpstr>
      <vt:lpstr>Connecting with Seniors Abroad and Accessing Mentorship for PhD Opportunities. </vt:lpstr>
      <vt:lpstr>Updating students about various Higher Education and Research Internship programmes through the WhatsApp community in a clear and concise manner for their convenience.</vt:lpstr>
      <vt:lpstr>FEEDBACK RECEIVED FROM THE STUDENTS THIS YEAR.</vt:lpstr>
      <vt:lpstr>How would you rate the working of HEC this academic year ?  145 responses</vt:lpstr>
      <vt:lpstr>Suggestions received from the students that can be considered next year </vt:lpstr>
      <vt:lpstr>    Thankyou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HARIKUMAR N</dc:creator>
  <cp:lastModifiedBy>HARIKUMAR N</cp:lastModifiedBy>
  <cp:revision>4</cp:revision>
  <dcterms:created xsi:type="dcterms:W3CDTF">2026-04-29T05:53:04Z</dcterms:created>
  <dcterms:modified xsi:type="dcterms:W3CDTF">2026-05-11T13:43:25Z</dcterms:modified>
</cp:coreProperties>
</file>